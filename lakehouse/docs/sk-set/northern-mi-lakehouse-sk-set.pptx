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partis, same program: A-frame with a 2-car under part of it, lakeside deck, 20-ft container pool, and one 3D-printed curved element. Target: inland lake, northern Michigan.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reference photo done as a bank house. Best fit for a sloped lot; the printed concrete plinth is the 3DP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AKAY container-hybrid parti from the second reference. Container pool reads as a third module of the same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Closest to the last two references. Most sculptural, most fab-intensive; the curve is structural glulam with printed panels following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concept-level; confirm ground snow, setbacks, and frost depth with the specific township once the parcel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curved element, three fab paths. GFRC from printed molds is the safest bet for a four-season lakefront; 3DCP is the boldest if the plinth is the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discipline as the TEG pipelines: parametric where it pays, native everywhere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parcel isn't locked yet, run all three partis through Forma on the shortlist lots — slope and shore orientation will eliminate at least one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 SET · CONCEPT PARTIS · REV 0.1 · AUG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A-FRAME HYBRID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MICHIGAN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4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A-frame + 2-car under · lakeside deck · 20-ft container pool · one 3D-printed curved element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92440" y="4663440"/>
            <a:ext cx="3383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2286000"/>
            <a:ext cx="2194560" cy="2377440"/>
          </a:xfrm>
          <a:prstGeom prst="triangle">
            <a:avLst/>
          </a:prstGeom>
          <a:solidFill>
            <a:srgbClr val="1C1B1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2395728"/>
            <a:ext cx="0" cy="224942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401568"/>
            <a:ext cx="932688" cy="1261872"/>
          </a:xfrm>
          <a:prstGeom prst="rect">
            <a:avLst/>
          </a:prstGeom>
          <a:solidFill>
            <a:srgbClr val="1C1B1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1312" y="4389120"/>
            <a:ext cx="530352" cy="256032"/>
          </a:xfrm>
          <a:prstGeom prst="rect">
            <a:avLst/>
          </a:prstGeom>
          <a:solidFill>
            <a:srgbClr val="3E7C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1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ONLY — NOT FOR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C1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6345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 LAKEHOUSE  ·  SK-1  ·  REV 0.1  ·  2026-08-14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SK-1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148840" y="5303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CHALET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966960" y="603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A-frame riding on a walkout plinth — garage buried in the plinth on the road side, glass gable to the water. </a:t>
            </a:r>
            <a:pPr indent="0" marL="0">
              <a:buNone/>
            </a:pPr>
            <a:r>
              <a:rPr lang="en-US" sz="1350" b="1" dirty="0">
                <a:solidFill>
                  <a:srgbClr val="C24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plinth itself is the printed piece.</a:t>
            </a:r>
            <a:endParaRPr lang="en-US" sz="1350" dirty="0"/>
          </a:p>
        </p:txBody>
      </p:sp>
      <p:pic>
        <p:nvPicPr>
          <p:cNvPr id="8" name="Image 0" descr="svg/sk1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3977640" cy="30934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047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 PLAN — LAKE UP</a:t>
            </a:r>
            <a:endParaRPr lang="en-US" sz="900" dirty="0"/>
          </a:p>
        </p:txBody>
      </p:sp>
      <p:pic>
        <p:nvPicPr>
          <p:cNvPr id="10" name="Image 1" descr="svg/sk1-el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20240"/>
            <a:ext cx="3977640" cy="24304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43982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 ELEVATION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4773168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0" y="4901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WATCH-OUT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937760" y="5120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8–10 ft of grade fall to the water or the walkout dies. Buy the slope before you buy the scheme.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961120" y="19202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961120" y="2139696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Plinth: 2-car + mud/mech, lakeside walkout guest. Main: great room at the gable, kitchen mid, primary rear. Loft: 2 beds + bath. ≈2,300 sf living.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961120" y="361188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961120" y="3831336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to shore, flush at the deck edge, on its own helical piles.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961120" y="46817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PRINTED PIECE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961120" y="490118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3DCP plinth — printed concrete, curved entry corner, layer lines left exposed.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5458968"/>
            <a:ext cx="182880" cy="182880"/>
          </a:xfrm>
          <a:prstGeom prst="rect">
            <a:avLst/>
          </a:prstGeom>
          <a:solidFill>
            <a:srgbClr val="A9713F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8952" y="5440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CEDAR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514600" y="5458968"/>
            <a:ext cx="182880" cy="182880"/>
          </a:xfrm>
          <a:prstGeom prst="rect">
            <a:avLst/>
          </a:prstGeom>
          <a:solidFill>
            <a:srgbClr val="4A4038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70632" y="5440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 SEAM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02920" y="5806440"/>
            <a:ext cx="182880" cy="182880"/>
          </a:xfrm>
          <a:prstGeom prst="rect">
            <a:avLst/>
          </a:prstGeom>
          <a:solidFill>
            <a:srgbClr val="1C1B18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8952" y="57881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 RAIL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514600" y="5806440"/>
            <a:ext cx="182880" cy="182880"/>
          </a:xfrm>
          <a:prstGeom prst="rect">
            <a:avLst/>
          </a:prstGeom>
          <a:solidFill>
            <a:srgbClr val="B7B2A6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70632" y="57881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PRINTED CONC.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C1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6345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 LAKEHOUSE  ·  SK-2  ·  REV 0.1  ·  2026-08-14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SK-2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148840" y="5303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BAR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966960" y="603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A-frame kept sacred — great room and loft only — beside a flat-roof bar carrying garage, beds, and a roof deck. </a:t>
            </a:r>
            <a:pPr indent="0" marL="0">
              <a:buNone/>
            </a:pPr>
            <a:r>
              <a:rPr lang="en-US" sz="1350" b="1" dirty="0">
                <a:solidFill>
                  <a:srgbClr val="C24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curved printed link is the hinge between the two languages.</a:t>
            </a:r>
            <a:endParaRPr lang="en-US" sz="1350" dirty="0"/>
          </a:p>
        </p:txBody>
      </p:sp>
      <p:pic>
        <p:nvPicPr>
          <p:cNvPr id="8" name="Image 0" descr="svg/sk2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3977640" cy="30934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047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 PLAN — LAKE UP</a:t>
            </a:r>
            <a:endParaRPr lang="en-US" sz="900" dirty="0"/>
          </a:p>
        </p:txBody>
      </p:sp>
      <p:pic>
        <p:nvPicPr>
          <p:cNvPr id="10" name="Image 1" descr="svg/sk2-el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20240"/>
            <a:ext cx="3977640" cy="24304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43982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 ELEVATION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4773168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0" y="4901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WATCH-OUT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937760" y="5120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bar clear of the A's snow-shed zone — the gap is avalanche avoidance, not just composition. Size the link roof for slide load.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961120" y="19202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961120" y="2139696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A-volume: double-height great room, loft primary. Bar: 2-car + entry at grade; 2 beds + bath over; roof deck on the lake end. ≈2,400 sf living.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961120" y="361188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961120" y="3831336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Perpendicular to shore, in line with the bar — a third module. A MOONDOCK unit in residential trim.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961120" y="46817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PRINTED PIECE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961120" y="490118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Curved entry link — printed-mold GFRC panels or LFAM polymer rainscreen.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5458968"/>
            <a:ext cx="182880" cy="182880"/>
          </a:xfrm>
          <a:prstGeom prst="rect">
            <a:avLst/>
          </a:prstGeom>
          <a:solidFill>
            <a:srgbClr val="22211E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8952" y="5440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MATTE BLACK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514600" y="5458968"/>
            <a:ext cx="182880" cy="182880"/>
          </a:xfrm>
          <a:prstGeom prst="rect">
            <a:avLst/>
          </a:prstGeom>
          <a:solidFill>
            <a:srgbClr val="8A5A32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70632" y="5440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TORREFIED ASH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02920" y="5806440"/>
            <a:ext cx="182880" cy="182880"/>
          </a:xfrm>
          <a:prstGeom prst="rect">
            <a:avLst/>
          </a:prstGeom>
          <a:solidFill>
            <a:srgbClr val="A9713F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8952" y="57881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WOOD SOFFIT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514600" y="5806440"/>
            <a:ext cx="182880" cy="182880"/>
          </a:xfrm>
          <a:prstGeom prst="rect">
            <a:avLst/>
          </a:prstGeom>
          <a:solidFill>
            <a:srgbClr val="B7B2A6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70632" y="57881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GFRC LINK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C1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6345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 LAKEHOUSE  ·  SK-3  ·  REV 0.1  ·  2026-08-14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SK-3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148840" y="5303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KICKED RIDGE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966960" y="603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A — one roof plane runs long over a drive-under garage; the lake-end eave kicks up in a curved glulam sweep over the deck. </a:t>
            </a:r>
            <a:pPr indent="0" marL="0">
              <a:buNone/>
            </a:pPr>
            <a:r>
              <a:rPr lang="en-US" sz="1350" b="1" dirty="0">
                <a:solidFill>
                  <a:srgbClr val="C24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curvature is real structure, not applied.</a:t>
            </a:r>
            <a:endParaRPr lang="en-US" sz="1350" dirty="0"/>
          </a:p>
        </p:txBody>
      </p:sp>
      <p:pic>
        <p:nvPicPr>
          <p:cNvPr id="8" name="Image 0" descr="svg/sk3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3977640" cy="30934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047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 PLAN — LAKE UP</a:t>
            </a:r>
            <a:endParaRPr lang="en-US" sz="900" dirty="0"/>
          </a:p>
        </p:txBody>
      </p:sp>
      <p:pic>
        <p:nvPicPr>
          <p:cNvPr id="10" name="Image 1" descr="svg/sk3-el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20240"/>
            <a:ext cx="3977640" cy="24304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43982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ELEVATION — LAKE AT LEFT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4773168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0" y="4901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WATCH-OUT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937760" y="5120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premium option — curved glulams + curved panels mean the longest fab lead times. Lock roof geometry early; everything references it.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961120" y="19202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961120" y="2139696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Grade: garage + entry under the tail. Main: great room to the lake gable, kitchen/dining mid. Loft: primary + bunk. ≈2,200 sf living.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961120" y="361188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961120" y="3831336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Perpendicular off the deck corner, nose toward the water.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961120" y="46817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PRINTED PIECE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961120" y="490118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Curved gable-end + eave fascia panels following the glulam sweep — printed molds to GFRC, or LFAM polymer.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5458968"/>
            <a:ext cx="182880" cy="182880"/>
          </a:xfrm>
          <a:prstGeom prst="rect">
            <a:avLst/>
          </a:prstGeom>
          <a:solidFill>
            <a:srgbClr val="7D8288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8952" y="5440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ZINC ROOF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514600" y="5458968"/>
            <a:ext cx="182880" cy="182880"/>
          </a:xfrm>
          <a:prstGeom prst="rect">
            <a:avLst/>
          </a:prstGeom>
          <a:solidFill>
            <a:srgbClr val="B98A54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70632" y="5440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LARCH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02920" y="5806440"/>
            <a:ext cx="182880" cy="182880"/>
          </a:xfrm>
          <a:prstGeom prst="rect">
            <a:avLst/>
          </a:prstGeom>
          <a:solidFill>
            <a:srgbClr val="2A2A2A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8952" y="57881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STEEL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514600" y="5806440"/>
            <a:ext cx="182880" cy="182880"/>
          </a:xfrm>
          <a:prstGeom prst="rect">
            <a:avLst/>
          </a:prstGeom>
          <a:solidFill>
            <a:srgbClr val="B7B2A6"/>
          </a:solidFill>
          <a:ln w="9525">
            <a:solidFill>
              <a:srgbClr val="1C1B1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70632" y="57881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GFRC PANELS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C1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6345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 LAKEHOUSE  ·  NOTES  ·  REV 0.1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NORTHERN MICHIGAN · 45TH PARALLEL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56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60–70+ psf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snow up north. A-frames shed to the two long sides — decks, walks, garage doors, and the pool stay at the gable ends. All three partis are drawn that 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856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≈50,000 lb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73952" y="24231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 STRUCTURE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73952" y="2697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20-ft container pool, full. Never on deck framing — own helical piles with a flush-deck surround. Insulate + heat pump for May–Oct; drain down after.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79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40–75 ft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7240" y="4846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+ ZONING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inland-lake OHWM setbacks, township-specific; pools usually count as structures. Frost footings 42–60 in. Septic + well drive siting as much as the view.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411480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4279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R302.6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73952" y="4846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GARAGE UNDER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73952" y="5120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Dwelling separation at the garage lid and shared walls per the Michigan Residential Code. Cheap now, annoying in a retrofit.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C1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6345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 LAKEHOUSE  ·  NOTES  ·  REV 0.1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BUILDABLE ROUTES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PRINTED PIECE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337560" cy="4069080"/>
          </a:xfrm>
          <a:prstGeom prst="roundRect">
            <a:avLst>
              <a:gd name="adj" fmla="val 1644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C2401B"/>
          </a:solidFill>
          <a:ln w="12700">
            <a:solidFill>
              <a:srgbClr val="C240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3DCP PLINTH / SITE WALLS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concrete, on-site or precast. Citizen Robotics in Detroit is the obvious first call — keep the fab local.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2578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FIT: SK-1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3337560" cy="4069080"/>
          </a:xfrm>
          <a:prstGeom prst="roundRect">
            <a:avLst>
              <a:gd name="adj" fmla="val 1644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965960"/>
            <a:ext cx="502920" cy="502920"/>
          </a:xfrm>
          <a:prstGeom prst="ellipse">
            <a:avLst/>
          </a:prstGeom>
          <a:solidFill>
            <a:srgbClr val="C2401B"/>
          </a:solidFill>
          <a:ln w="12700">
            <a:solidFill>
              <a:srgbClr val="C240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26974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MOLDS → GFRC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09160" y="342900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formwork, cast glass-fiber-reinforced concrete panels. The most freeze-thaw-proven route to curved facade geometry.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52578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FIT: SK-2 / SK-3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66760" y="1691640"/>
            <a:ext cx="3337560" cy="4069080"/>
          </a:xfrm>
          <a:prstGeom prst="roundRect">
            <a:avLst>
              <a:gd name="adj" fmla="val 1644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1080" y="1965960"/>
            <a:ext cx="502920" cy="502920"/>
          </a:xfrm>
          <a:prstGeom prst="ellipse">
            <a:avLst/>
          </a:prstGeom>
          <a:solidFill>
            <a:srgbClr val="C2401B"/>
          </a:solidFill>
          <a:ln w="12700">
            <a:solidFill>
              <a:srgbClr val="C240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1080" y="26974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LFAM POLYMER RAINSCREEN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41080" y="342900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Large-format printed panels hung on conventional framing. Lightest and fastest to iterate — verify UV + thermal-cycling specs first.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41080" y="52578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FASTEST TO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C1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6345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 LAKEHOUSE  ·  WORKFLOW  ·  REV 0.1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TO NATIVE RVT + FAB EXPORT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REVIT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148840" cy="3063240"/>
          </a:xfrm>
          <a:prstGeom prst="roundRect">
            <a:avLst>
              <a:gd name="adj" fmla="val 2553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286000"/>
            <a:ext cx="502920" cy="502920"/>
          </a:xfrm>
          <a:prstGeom prst="ellipse">
            <a:avLst/>
          </a:prstGeom>
          <a:solidFill>
            <a:srgbClr val="3E7C96"/>
          </a:solidFill>
          <a:ln w="12700">
            <a:solidFill>
              <a:srgbClr val="3E7C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3017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actual parcel in — massing, sun, wind + snow, and view corridors before committing to a parti.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0440" y="2011680"/>
            <a:ext cx="2148840" cy="3063240"/>
          </a:xfrm>
          <a:prstGeom prst="roundRect">
            <a:avLst>
              <a:gd name="adj" fmla="val 2553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6472" y="2286000"/>
            <a:ext cx="502920" cy="502920"/>
          </a:xfrm>
          <a:prstGeom prst="ellipse">
            <a:avLst/>
          </a:prstGeom>
          <a:solidFill>
            <a:srgbClr val="3E7C96"/>
          </a:solidFill>
          <a:ln w="12700">
            <a:solidFill>
              <a:srgbClr val="3E7C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76472" y="3017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MASS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76472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parti into Revit; generate walls, floors, and roofs by face.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37960" y="2011680"/>
            <a:ext cx="2148840" cy="3063240"/>
          </a:xfrm>
          <a:prstGeom prst="roundRect">
            <a:avLst>
              <a:gd name="adj" fmla="val 2553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3992" y="2286000"/>
            <a:ext cx="502920" cy="502920"/>
          </a:xfrm>
          <a:prstGeom prst="ellipse">
            <a:avLst/>
          </a:prstGeom>
          <a:solidFill>
            <a:srgbClr val="3E7C96"/>
          </a:solidFill>
          <a:ln w="12700">
            <a:solidFill>
              <a:srgbClr val="3E7C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3992" y="3017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COMPONENT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93992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printed element stays parametric — adaptive family or Dynamo-driven surface.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55480" y="2011680"/>
            <a:ext cx="2148840" cy="3063240"/>
          </a:xfrm>
          <a:prstGeom prst="roundRect">
            <a:avLst>
              <a:gd name="adj" fmla="val 2553"/>
            </a:avLst>
          </a:prstGeom>
          <a:solidFill>
            <a:srgbClr val="F2F1EE"/>
          </a:solidFill>
          <a:ln w="12700">
            <a:solidFill>
              <a:srgbClr val="F2F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11512" y="2286000"/>
            <a:ext cx="502920" cy="502920"/>
          </a:xfrm>
          <a:prstGeom prst="ellipse">
            <a:avLst/>
          </a:prstGeom>
          <a:solidFill>
            <a:srgbClr val="3E7C96"/>
          </a:solidFill>
          <a:ln w="12700">
            <a:solidFill>
              <a:srgbClr val="3E7C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1151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11512" y="3017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OBJ 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11512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 geometry exports straight to the printer; everything else stays native RVT.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97480" y="3520440"/>
            <a:ext cx="777240" cy="0"/>
          </a:xfrm>
          <a:prstGeom prst="line">
            <a:avLst/>
          </a:prstGeom>
          <a:noFill/>
          <a:ln w="22225">
            <a:solidFill>
              <a:srgbClr val="6E6A6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15000" y="3520440"/>
            <a:ext cx="777240" cy="0"/>
          </a:xfrm>
          <a:prstGeom prst="line">
            <a:avLst/>
          </a:prstGeom>
          <a:noFill/>
          <a:ln w="22225">
            <a:solidFill>
              <a:srgbClr val="6E6A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32520" y="3520440"/>
            <a:ext cx="777240" cy="0"/>
          </a:xfrm>
          <a:prstGeom prst="line">
            <a:avLst/>
          </a:prstGeom>
          <a:noFill/>
          <a:ln w="22225">
            <a:solidFill>
              <a:srgbClr val="6E6A61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02920" y="56235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 MASSING FIRST — THE PARCEL PICKS THE PARTI BEFORE TASTE DOES.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REV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PARTI.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4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0.2 develops the winner: plans, sections, and a Forma-ready massing brief.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82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SK-1 lives or dies on 8–10 ft of grade fall to the water — let the lot vote before taste does.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1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ONLY — NOT FOR CONSTRUCTION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2026-08-14T14:29:56Z</dcterms:created>
  <dcterms:modified xsi:type="dcterms:W3CDTF">2026-08-14T14:29:56Z</dcterms:modified>
</cp:coreProperties>
</file>